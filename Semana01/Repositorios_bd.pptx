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Bold" charset="1" panose="00000800000000000000"/>
      <p:regular r:id="rId12"/>
    </p:embeddedFont>
    <p:embeddedFont>
      <p:font typeface="Agrandir" charset="1" panose="00000500000000000000"/>
      <p:regular r:id="rId13"/>
    </p:embeddedFont>
    <p:embeddedFont>
      <p:font typeface="Agrandir Italic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71" r="-38550" b="-352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21967" y="8477571"/>
            <a:ext cx="22131933" cy="3086100"/>
            <a:chOff x="0" y="0"/>
            <a:chExt cx="582898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28986" cy="812800"/>
            </a:xfrm>
            <a:custGeom>
              <a:avLst/>
              <a:gdLst/>
              <a:ahLst/>
              <a:cxnLst/>
              <a:rect r="r" b="b" t="t" l="l"/>
              <a:pathLst>
                <a:path h="812800" w="5828986">
                  <a:moveTo>
                    <a:pt x="0" y="0"/>
                  </a:moveTo>
                  <a:lnTo>
                    <a:pt x="5828986" y="0"/>
                  </a:lnTo>
                  <a:lnTo>
                    <a:pt x="582898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28987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82404" y="5702435"/>
            <a:ext cx="6123192" cy="761982"/>
            <a:chOff x="0" y="0"/>
            <a:chExt cx="1612693" cy="2006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2693" cy="200687"/>
            </a:xfrm>
            <a:custGeom>
              <a:avLst/>
              <a:gdLst/>
              <a:ahLst/>
              <a:cxnLst/>
              <a:rect r="r" b="b" t="t" l="l"/>
              <a:pathLst>
                <a:path h="200687" w="1612693">
                  <a:moveTo>
                    <a:pt x="100343" y="0"/>
                  </a:moveTo>
                  <a:lnTo>
                    <a:pt x="1512349" y="0"/>
                  </a:lnTo>
                  <a:cubicBezTo>
                    <a:pt x="1538962" y="0"/>
                    <a:pt x="1564485" y="10572"/>
                    <a:pt x="1583303" y="29390"/>
                  </a:cubicBezTo>
                  <a:cubicBezTo>
                    <a:pt x="1602121" y="48208"/>
                    <a:pt x="1612693" y="73731"/>
                    <a:pt x="1612693" y="100343"/>
                  </a:cubicBezTo>
                  <a:lnTo>
                    <a:pt x="1612693" y="100343"/>
                  </a:lnTo>
                  <a:cubicBezTo>
                    <a:pt x="1612693" y="126956"/>
                    <a:pt x="1602121" y="152479"/>
                    <a:pt x="1583303" y="171297"/>
                  </a:cubicBezTo>
                  <a:cubicBezTo>
                    <a:pt x="1564485" y="190115"/>
                    <a:pt x="1538962" y="200687"/>
                    <a:pt x="1512349" y="200687"/>
                  </a:cubicBezTo>
                  <a:lnTo>
                    <a:pt x="100343" y="200687"/>
                  </a:lnTo>
                  <a:cubicBezTo>
                    <a:pt x="73731" y="200687"/>
                    <a:pt x="48208" y="190115"/>
                    <a:pt x="29390" y="171297"/>
                  </a:cubicBezTo>
                  <a:cubicBezTo>
                    <a:pt x="10572" y="152479"/>
                    <a:pt x="0" y="126956"/>
                    <a:pt x="0" y="100343"/>
                  </a:cubicBezTo>
                  <a:lnTo>
                    <a:pt x="0" y="100343"/>
                  </a:lnTo>
                  <a:cubicBezTo>
                    <a:pt x="0" y="73731"/>
                    <a:pt x="10572" y="48208"/>
                    <a:pt x="29390" y="29390"/>
                  </a:cubicBezTo>
                  <a:cubicBezTo>
                    <a:pt x="48208" y="10572"/>
                    <a:pt x="73731" y="0"/>
                    <a:pt x="100343" y="0"/>
                  </a:cubicBez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12693" cy="257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949360"/>
            <a:ext cx="18288000" cy="319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5"/>
              </a:lnSpc>
            </a:pPr>
            <a:r>
              <a:rPr lang="en-US" b="true" sz="8496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DIFER</a:t>
            </a:r>
            <a:r>
              <a:rPr lang="en-US" b="true" sz="8496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ENTES REPOSITORIOS PARA BASE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5649" y="5802887"/>
            <a:ext cx="5396702" cy="50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52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MEZA MEDINA JARED JOSUÉ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3853" y="1891845"/>
            <a:ext cx="14520293" cy="6503310"/>
            <a:chOff x="0" y="0"/>
            <a:chExt cx="3824275" cy="1712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4275" cy="1712806"/>
            </a:xfrm>
            <a:custGeom>
              <a:avLst/>
              <a:gdLst/>
              <a:ahLst/>
              <a:cxnLst/>
              <a:rect r="r" b="b" t="t" l="l"/>
              <a:pathLst>
                <a:path h="1712806" w="3824275">
                  <a:moveTo>
                    <a:pt x="0" y="0"/>
                  </a:moveTo>
                  <a:lnTo>
                    <a:pt x="3824275" y="0"/>
                  </a:lnTo>
                  <a:lnTo>
                    <a:pt x="3824275" y="1712806"/>
                  </a:lnTo>
                  <a:lnTo>
                    <a:pt x="0" y="1712806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24275" cy="1769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68632" y="1891845"/>
            <a:ext cx="6035514" cy="6503310"/>
            <a:chOff x="0" y="0"/>
            <a:chExt cx="935059" cy="1007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5059" cy="1007533"/>
            </a:xfrm>
            <a:custGeom>
              <a:avLst/>
              <a:gdLst/>
              <a:ahLst/>
              <a:cxnLst/>
              <a:rect r="r" b="b" t="t" l="l"/>
              <a:pathLst>
                <a:path h="1007533" w="935059">
                  <a:moveTo>
                    <a:pt x="0" y="0"/>
                  </a:moveTo>
                  <a:lnTo>
                    <a:pt x="935059" y="0"/>
                  </a:lnTo>
                  <a:lnTo>
                    <a:pt x="935059" y="1007533"/>
                  </a:lnTo>
                  <a:lnTo>
                    <a:pt x="0" y="1007533"/>
                  </a:lnTo>
                  <a:close/>
                </a:path>
              </a:pathLst>
            </a:custGeom>
            <a:blipFill>
              <a:blip r:embed="rId2"/>
              <a:stretch>
                <a:fillRect l="-28925" t="0" r="-3255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15241" y="2341605"/>
            <a:ext cx="5828759" cy="248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8"/>
              </a:lnSpc>
            </a:pPr>
            <a:r>
              <a:rPr lang="en-US" b="true" sz="509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1. REPOSITORIOS RELACIONALES (SQL)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12911" y="4893012"/>
            <a:ext cx="6433418" cy="330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Son los más tradicionales y estructurados. Funcionan como una hoja de cálculo gigante donde las tablas se conectan entre sí mediante llaves.</a:t>
            </a:r>
          </a:p>
          <a:p>
            <a:pPr algn="l" marL="400507" indent="-200254" lvl="1">
              <a:lnSpc>
                <a:spcPts val="2597"/>
              </a:lnSpc>
              <a:buFont typeface="Arial"/>
              <a:buChar char="•"/>
            </a:pPr>
            <a:r>
              <a:rPr lang="en-US" sz="18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Estructura: Rígida (esquema definido). Lo</a:t>
            </a:r>
            <a:r>
              <a:rPr lang="en-US" sz="18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 datos deben seguir reglas estrictas.</a:t>
            </a:r>
          </a:p>
          <a:p>
            <a:pPr algn="l" marL="400507" indent="-200254" lvl="1">
              <a:lnSpc>
                <a:spcPts val="2597"/>
              </a:lnSpc>
              <a:buFont typeface="Arial"/>
              <a:buChar char="•"/>
            </a:pPr>
            <a:r>
              <a:rPr lang="en-US" sz="18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Fortaleza: Garantizan la integridad de los datos (ACID). Son perfectos para transacciones financieras o sistemas contables.</a:t>
            </a:r>
          </a:p>
          <a:p>
            <a:pPr algn="l" marL="400507" indent="-200254" lvl="1">
              <a:lnSpc>
                <a:spcPts val="2597"/>
              </a:lnSpc>
              <a:buFont typeface="Arial"/>
              <a:buChar char="•"/>
            </a:pPr>
            <a:r>
              <a:rPr lang="en-US" sz="18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Ejemplos: MySQL, PostgreSQL, Oracle, SQL Server.</a:t>
            </a:r>
          </a:p>
          <a:p>
            <a:pPr algn="l">
              <a:lnSpc>
                <a:spcPts val="259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3853" y="1891845"/>
            <a:ext cx="14520293" cy="6503310"/>
            <a:chOff x="0" y="0"/>
            <a:chExt cx="3824275" cy="1712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4275" cy="1712806"/>
            </a:xfrm>
            <a:custGeom>
              <a:avLst/>
              <a:gdLst/>
              <a:ahLst/>
              <a:cxnLst/>
              <a:rect r="r" b="b" t="t" l="l"/>
              <a:pathLst>
                <a:path h="1712806" w="3824275">
                  <a:moveTo>
                    <a:pt x="0" y="0"/>
                  </a:moveTo>
                  <a:lnTo>
                    <a:pt x="3824275" y="0"/>
                  </a:lnTo>
                  <a:lnTo>
                    <a:pt x="3824275" y="1712806"/>
                  </a:lnTo>
                  <a:lnTo>
                    <a:pt x="0" y="1712806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24275" cy="1769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83853" y="1891845"/>
            <a:ext cx="6035514" cy="6503310"/>
            <a:chOff x="0" y="0"/>
            <a:chExt cx="935059" cy="1007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5059" cy="1007533"/>
            </a:xfrm>
            <a:custGeom>
              <a:avLst/>
              <a:gdLst/>
              <a:ahLst/>
              <a:cxnLst/>
              <a:rect r="r" b="b" t="t" l="l"/>
              <a:pathLst>
                <a:path h="1007533" w="935059">
                  <a:moveTo>
                    <a:pt x="0" y="0"/>
                  </a:moveTo>
                  <a:lnTo>
                    <a:pt x="935059" y="0"/>
                  </a:lnTo>
                  <a:lnTo>
                    <a:pt x="935059" y="1007533"/>
                  </a:lnTo>
                  <a:lnTo>
                    <a:pt x="0" y="1007533"/>
                  </a:lnTo>
                  <a:close/>
                </a:path>
              </a:pathLst>
            </a:custGeom>
            <a:blipFill>
              <a:blip r:embed="rId2"/>
              <a:stretch>
                <a:fillRect l="-28925" t="0" r="-3255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55465" y="1948274"/>
            <a:ext cx="6736446" cy="248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8"/>
              </a:lnSpc>
            </a:pPr>
            <a:r>
              <a:rPr lang="en-US" b="true" sz="509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2. REPOSITORIOS NO RELACIONALES (NOSQL)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9970" y="4494078"/>
            <a:ext cx="8052127" cy="407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Surgieron para manejar grandes volúmenes de datos que no encajan bien en tablas fijas (como redes sociales o catálogos de productos variables).</a:t>
            </a:r>
          </a:p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Existen cuatro tipos principales de NoSQL:</a:t>
            </a:r>
          </a:p>
          <a:p>
            <a:pPr algn="l" marL="357326" indent="-178663" lvl="1">
              <a:lnSpc>
                <a:spcPts val="2317"/>
              </a:lnSpc>
              <a:buFont typeface="Arial"/>
              <a:buChar char="•"/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Orientados a Documentos: Guardan la información en formatos como JSON. Son flexibles; cada "registro" puede tener campos diferentes. (Ejemplo: MongoDB).</a:t>
            </a:r>
          </a:p>
          <a:p>
            <a:pPr algn="l" marL="357326" indent="-178663" lvl="1">
              <a:lnSpc>
                <a:spcPts val="2317"/>
              </a:lnSpc>
              <a:buFont typeface="Arial"/>
              <a:buChar char="•"/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Clave-Valor: Funcionan como un diccionario simple. Son extremadamente rápido</a:t>
            </a: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 para sesiones de usuario o carritos de compra. (Ejemplo: Redis).</a:t>
            </a:r>
          </a:p>
          <a:p>
            <a:pPr algn="l" marL="357326" indent="-178663" lvl="1">
              <a:lnSpc>
                <a:spcPts val="2317"/>
              </a:lnSpc>
              <a:buFont typeface="Arial"/>
              <a:buChar char="•"/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Orientados a Columnas: Diseñados para consultas masivas de análisis sobre grandes conjuntos de datos. (Ejemplo: Cassandra).</a:t>
            </a:r>
          </a:p>
          <a:p>
            <a:pPr algn="l" marL="357326" indent="-178663" lvl="1">
              <a:lnSpc>
                <a:spcPts val="2317"/>
              </a:lnSpc>
              <a:buFont typeface="Arial"/>
              <a:buChar char="•"/>
            </a:pP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Basados en Grafos: Se enfocan en las relaciones entre los datos (nodos y aristas). Ideales para recomendaciones d</a:t>
            </a:r>
            <a:r>
              <a:rPr lang="en-US" sz="165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amigos o detección de fraudes. (Ejemplo: Neo4j).</a:t>
            </a:r>
          </a:p>
          <a:p>
            <a:pPr algn="l">
              <a:lnSpc>
                <a:spcPts val="259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839343"/>
            <a:ext cx="16230600" cy="2710603"/>
            <a:chOff x="0" y="0"/>
            <a:chExt cx="4274726" cy="713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13904"/>
            </a:xfrm>
            <a:custGeom>
              <a:avLst/>
              <a:gdLst/>
              <a:ahLst/>
              <a:cxnLst/>
              <a:rect r="r" b="b" t="t" l="l"/>
              <a:pathLst>
                <a:path h="71390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713904"/>
                  </a:lnTo>
                  <a:lnTo>
                    <a:pt x="0" y="713904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77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06080" y="4190093"/>
            <a:ext cx="10195086" cy="1204381"/>
            <a:chOff x="0" y="0"/>
            <a:chExt cx="2811463" cy="332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1463" cy="332128"/>
            </a:xfrm>
            <a:custGeom>
              <a:avLst/>
              <a:gdLst/>
              <a:ahLst/>
              <a:cxnLst/>
              <a:rect r="r" b="b" t="t" l="l"/>
              <a:pathLst>
                <a:path h="332128" w="2811463">
                  <a:moveTo>
                    <a:pt x="0" y="0"/>
                  </a:moveTo>
                  <a:lnTo>
                    <a:pt x="2811463" y="0"/>
                  </a:lnTo>
                  <a:lnTo>
                    <a:pt x="2811463" y="332128"/>
                  </a:lnTo>
                  <a:lnTo>
                    <a:pt x="0" y="332128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11463" cy="389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737055"/>
            <a:ext cx="6104056" cy="6812891"/>
            <a:chOff x="0" y="0"/>
            <a:chExt cx="945678" cy="1055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678" cy="1055495"/>
            </a:xfrm>
            <a:custGeom>
              <a:avLst/>
              <a:gdLst/>
              <a:ahLst/>
              <a:cxnLst/>
              <a:rect r="r" b="b" t="t" l="l"/>
              <a:pathLst>
                <a:path h="1055495" w="945678">
                  <a:moveTo>
                    <a:pt x="0" y="0"/>
                  </a:moveTo>
                  <a:lnTo>
                    <a:pt x="945678" y="0"/>
                  </a:lnTo>
                  <a:lnTo>
                    <a:pt x="945678" y="1055495"/>
                  </a:lnTo>
                  <a:lnTo>
                    <a:pt x="0" y="1055495"/>
                  </a:lnTo>
                  <a:close/>
                </a:path>
              </a:pathLst>
            </a:custGeom>
            <a:blipFill>
              <a:blip r:embed="rId2"/>
              <a:stretch>
                <a:fillRect l="-49432" t="0" r="-494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73263" y="1164043"/>
            <a:ext cx="8962698" cy="304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3"/>
              </a:lnSpc>
            </a:pPr>
            <a:r>
              <a:rPr lang="en-US" b="true" sz="6258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3. REPOSITORIOS DE ALMACENAMIENTO MASIVO (BIG DATA)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3374" y="4274638"/>
            <a:ext cx="4740498" cy="95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17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Cuando los datos son tan grandes que una base de datos normal "explota", recurrimos a arquitecturas de almacenamiento masivo: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4435" y="5961743"/>
            <a:ext cx="3837877" cy="83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b="true" sz="251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WAREHOUSE (ALMACÉN DE DATOS)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5830" y="6893049"/>
            <a:ext cx="4017241" cy="184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14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Es un repositorio centralizado de datos estructurados que ya han sido procesados para un fin específico (anál</a:t>
            </a:r>
            <a:r>
              <a:rPr lang="en-US" sz="14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isis de negocios).</a:t>
            </a:r>
          </a:p>
          <a:p>
            <a:pPr algn="l" marL="317741" indent="-158870" lvl="1">
              <a:lnSpc>
                <a:spcPts val="2384"/>
              </a:lnSpc>
              <a:buFont typeface="Arial"/>
              <a:buChar char="•"/>
            </a:pPr>
            <a:r>
              <a:rPr lang="en-US" sz="14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Uso: Reportes anuales, tendencias de ventas.</a:t>
            </a:r>
          </a:p>
          <a:p>
            <a:pPr algn="l">
              <a:lnSpc>
                <a:spcPts val="2870"/>
              </a:lnSpc>
            </a:pPr>
          </a:p>
        </p:txBody>
      </p:sp>
      <p:sp>
        <p:nvSpPr>
          <p:cNvPr name="AutoShape 14" id="14"/>
          <p:cNvSpPr/>
          <p:nvPr/>
        </p:nvSpPr>
        <p:spPr>
          <a:xfrm flipV="true">
            <a:off x="12203623" y="6239736"/>
            <a:ext cx="0" cy="193983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003723" y="5937290"/>
            <a:ext cx="3266032" cy="83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b="true" sz="251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LAKE (LAGO DE DATOS)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17948" y="6829443"/>
            <a:ext cx="4318013" cy="156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62" indent="-137281" lvl="1">
              <a:lnSpc>
                <a:spcPts val="2060"/>
              </a:lnSpc>
              <a:buFont typeface="Arial"/>
              <a:buChar char="•"/>
            </a:pPr>
            <a:r>
              <a:rPr lang="en-US" sz="12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Es un depósito que almacena datos en su estado natural (crudos), ya sean estructurados, semi-estructurados </a:t>
            </a:r>
            <a:r>
              <a:rPr lang="en-US" sz="12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 no estructurados (imágenes, logs, PDFs).</a:t>
            </a:r>
          </a:p>
          <a:p>
            <a:pPr algn="l" marL="274562" indent="-137281" lvl="1">
              <a:lnSpc>
                <a:spcPts val="2060"/>
              </a:lnSpc>
              <a:buFont typeface="Arial"/>
              <a:buChar char="•"/>
            </a:pPr>
            <a:r>
              <a:rPr lang="en-US" sz="127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Uso: Científicos de datos que necesitan "pescar" información para entrenar 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3853" y="1891845"/>
            <a:ext cx="14520293" cy="6503310"/>
            <a:chOff x="0" y="0"/>
            <a:chExt cx="3824275" cy="1712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4275" cy="1712806"/>
            </a:xfrm>
            <a:custGeom>
              <a:avLst/>
              <a:gdLst/>
              <a:ahLst/>
              <a:cxnLst/>
              <a:rect r="r" b="b" t="t" l="l"/>
              <a:pathLst>
                <a:path h="1712806" w="3824275">
                  <a:moveTo>
                    <a:pt x="0" y="0"/>
                  </a:moveTo>
                  <a:lnTo>
                    <a:pt x="3824275" y="0"/>
                  </a:lnTo>
                  <a:lnTo>
                    <a:pt x="3824275" y="1712806"/>
                  </a:lnTo>
                  <a:lnTo>
                    <a:pt x="0" y="1712806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24275" cy="1769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68632" y="1891845"/>
            <a:ext cx="6035514" cy="6503310"/>
            <a:chOff x="0" y="0"/>
            <a:chExt cx="935059" cy="1007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5059" cy="1007533"/>
            </a:xfrm>
            <a:custGeom>
              <a:avLst/>
              <a:gdLst/>
              <a:ahLst/>
              <a:cxnLst/>
              <a:rect r="r" b="b" t="t" l="l"/>
              <a:pathLst>
                <a:path h="1007533" w="935059">
                  <a:moveTo>
                    <a:pt x="0" y="0"/>
                  </a:moveTo>
                  <a:lnTo>
                    <a:pt x="935059" y="0"/>
                  </a:lnTo>
                  <a:lnTo>
                    <a:pt x="935059" y="1007533"/>
                  </a:lnTo>
                  <a:lnTo>
                    <a:pt x="0" y="1007533"/>
                  </a:lnTo>
                  <a:close/>
                </a:path>
              </a:pathLst>
            </a:custGeom>
            <a:blipFill>
              <a:blip r:embed="rId2"/>
              <a:stretch>
                <a:fillRect l="-58292" t="0" r="-5829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901494" y="2332620"/>
            <a:ext cx="4362377" cy="89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7"/>
              </a:lnSpc>
            </a:pPr>
            <a:r>
              <a:rPr lang="en-US" b="true" sz="4965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AGOSTO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051758" y="3858761"/>
            <a:ext cx="6017010" cy="1459244"/>
            <a:chOff x="0" y="0"/>
            <a:chExt cx="2091569" cy="5072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569" cy="507247"/>
            </a:xfrm>
            <a:custGeom>
              <a:avLst/>
              <a:gdLst/>
              <a:ahLst/>
              <a:cxnLst/>
              <a:rect r="r" b="b" t="t" l="l"/>
              <a:pathLst>
                <a:path h="507247" w="2091569">
                  <a:moveTo>
                    <a:pt x="0" y="0"/>
                  </a:moveTo>
                  <a:lnTo>
                    <a:pt x="2091569" y="0"/>
                  </a:lnTo>
                  <a:lnTo>
                    <a:pt x="2091569" y="507247"/>
                  </a:lnTo>
                  <a:lnTo>
                    <a:pt x="0" y="507247"/>
                  </a:lnTo>
                  <a:close/>
                </a:path>
              </a:pathLst>
            </a:custGeom>
            <a:solidFill>
              <a:srgbClr val="2D4D7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91569" cy="56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82662" y="4204964"/>
            <a:ext cx="2938940" cy="43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b="true" sz="244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71759" y="4628779"/>
            <a:ext cx="3760746" cy="27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40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Volver a vender con intención.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2732" y="5885261"/>
            <a:ext cx="1839164" cy="38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b="true" sz="2098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FECHAS: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4119" y="6385050"/>
            <a:ext cx="3036391" cy="31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8748" indent="-159374" lvl="1">
              <a:lnSpc>
                <a:spcPts val="2391"/>
              </a:lnSpc>
              <a:buFont typeface="Arial"/>
              <a:buChar char="•"/>
            </a:pPr>
            <a:r>
              <a:rPr lang="en-US" sz="1476">
                <a:solidFill>
                  <a:srgbClr val="2D4D79"/>
                </a:solidFill>
                <a:latin typeface="Agrandir"/>
                <a:ea typeface="Agrandir"/>
                <a:cs typeface="Agrandir"/>
                <a:sym typeface="Agrandir"/>
              </a:rPr>
              <a:t>Día de las Infancias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6060263" y="5846816"/>
            <a:ext cx="0" cy="1319699"/>
          </a:xfrm>
          <a:prstGeom prst="line">
            <a:avLst/>
          </a:prstGeom>
          <a:ln cap="flat" w="28575">
            <a:solidFill>
              <a:srgbClr val="2D4D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6665059" y="5885261"/>
            <a:ext cx="1906052" cy="38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b="true" sz="2098">
                <a:solidFill>
                  <a:srgbClr val="2D4D79"/>
                </a:solidFill>
                <a:latin typeface="Agrandir Bold"/>
                <a:ea typeface="Agrandir Bold"/>
                <a:cs typeface="Agrandir Bold"/>
                <a:sym typeface="Agrandir Bold"/>
              </a:rPr>
              <a:t>CAMPAÑAS: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58592" y="6385050"/>
            <a:ext cx="3457954" cy="619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8748" indent="-159374" lvl="1">
              <a:lnSpc>
                <a:spcPts val="2391"/>
              </a:lnSpc>
              <a:buFont typeface="Arial"/>
              <a:buChar char="•"/>
            </a:pPr>
            <a:r>
              <a:rPr lang="en-US" sz="1476">
                <a:solidFill>
                  <a:srgbClr val="2D4D79"/>
                </a:solidFill>
                <a:latin typeface="Agrandir"/>
                <a:ea typeface="Agrandir"/>
                <a:cs typeface="Agrandir"/>
                <a:sym typeface="Agrandir"/>
              </a:rPr>
              <a:t>Packs</a:t>
            </a:r>
          </a:p>
          <a:p>
            <a:pPr algn="l" marL="318748" indent="-159374" lvl="1">
              <a:lnSpc>
                <a:spcPts val="2391"/>
              </a:lnSpc>
              <a:buFont typeface="Arial"/>
              <a:buChar char="•"/>
            </a:pPr>
            <a:r>
              <a:rPr lang="en-US" sz="1476">
                <a:solidFill>
                  <a:srgbClr val="2D4D79"/>
                </a:solidFill>
                <a:latin typeface="Agrandir"/>
                <a:ea typeface="Agrandir"/>
                <a:cs typeface="Agrandir"/>
                <a:sym typeface="Agrandir"/>
              </a:rPr>
              <a:t>Beneficios por compra anticipada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62251" y="7504536"/>
            <a:ext cx="6440864" cy="30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</a:pPr>
            <a:r>
              <a:rPr lang="en-US" sz="1528" i="true" u="sng">
                <a:solidFill>
                  <a:srgbClr val="2D4D79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MUY BUEN MES PARA ESCALAR LO QUE FUNCIONÓ ANTES.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55678" y="3205779"/>
            <a:ext cx="4054010" cy="38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004">
                <a:solidFill>
                  <a:srgbClr val="2D4D79"/>
                </a:solidFill>
                <a:latin typeface="Agrandir"/>
                <a:ea typeface="Agrandir"/>
                <a:cs typeface="Agrandir"/>
                <a:sym typeface="Agrandir"/>
              </a:rPr>
              <a:t>REACTIVACIÓN FUERTE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77" r="0" b="-1486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DAHHWJWmBa4</dc:identifier>
  <dcterms:modified xsi:type="dcterms:W3CDTF">2011-08-01T06:04:30Z</dcterms:modified>
  <cp:revision>1</cp:revision>
  <dc:title>Presentación Calendario Anual de Campañas y Marketing Corporativo Azul y Blanco</dc:title>
</cp:coreProperties>
</file>