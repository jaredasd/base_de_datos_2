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nton" charset="1" panose="00000500000000000000"/>
      <p:regular r:id="rId11"/>
    </p:embeddedFont>
    <p:embeddedFont>
      <p:font typeface="Inter" charset="1" panose="020B0502030000000004"/>
      <p:regular r:id="rId12"/>
    </p:embeddedFont>
    <p:embeddedFont>
      <p:font typeface="Inter Bold" charset="1" panose="020B0802030000000004"/>
      <p:regular r:id="rId13"/>
    </p:embeddedFont>
    <p:embeddedFont>
      <p:font typeface="Inter Bold Italics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291358" y="4563338"/>
            <a:ext cx="22211183" cy="8117178"/>
          </a:xfrm>
          <a:custGeom>
            <a:avLst/>
            <a:gdLst/>
            <a:ahLst/>
            <a:cxnLst/>
            <a:rect r="r" b="b" t="t" l="l"/>
            <a:pathLst>
              <a:path h="8117178" w="22211183">
                <a:moveTo>
                  <a:pt x="0" y="0"/>
                </a:moveTo>
                <a:lnTo>
                  <a:pt x="22211182" y="0"/>
                </a:lnTo>
                <a:lnTo>
                  <a:pt x="22211182" y="8117178"/>
                </a:lnTo>
                <a:lnTo>
                  <a:pt x="0" y="811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53194"/>
            <a:ext cx="9509470" cy="222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65"/>
              </a:lnSpc>
            </a:pPr>
            <a:r>
              <a:rPr lang="en-US" sz="16765" spc="-30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RESUMEN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87271"/>
            <a:ext cx="7144891" cy="50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8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Meza Medina Jared Josué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278590"/>
            <a:ext cx="7424324" cy="75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5"/>
              </a:lnSpc>
            </a:pPr>
            <a:r>
              <a:rPr lang="en-US" sz="4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SEMANA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1585" y="1445795"/>
            <a:ext cx="4611615" cy="7395410"/>
            <a:chOff x="0" y="0"/>
            <a:chExt cx="714460" cy="11457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4460" cy="1145743"/>
            </a:xfrm>
            <a:custGeom>
              <a:avLst/>
              <a:gdLst/>
              <a:ahLst/>
              <a:cxnLst/>
              <a:rect r="r" b="b" t="t" l="l"/>
              <a:pathLst>
                <a:path h="1145743" w="714460">
                  <a:moveTo>
                    <a:pt x="0" y="0"/>
                  </a:moveTo>
                  <a:lnTo>
                    <a:pt x="714460" y="0"/>
                  </a:lnTo>
                  <a:lnTo>
                    <a:pt x="714460" y="1145743"/>
                  </a:lnTo>
                  <a:lnTo>
                    <a:pt x="0" y="1145743"/>
                  </a:lnTo>
                  <a:close/>
                </a:path>
              </a:pathLst>
            </a:custGeom>
            <a:blipFill>
              <a:blip r:embed="rId2"/>
              <a:stretch>
                <a:fillRect l="-55560" t="0" r="-5556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7282652" y="6124531"/>
            <a:ext cx="3870986" cy="0"/>
          </a:xfrm>
          <a:prstGeom prst="line">
            <a:avLst/>
          </a:prstGeom>
          <a:ln cap="flat" w="38100">
            <a:solidFill>
              <a:srgbClr val="24497B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" id="5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282652" y="1617245"/>
            <a:ext cx="9613762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spc="-158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FUNDAMENTOS DE LA ARQUITECTURA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2652" y="4023734"/>
            <a:ext cx="9302487" cy="170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</a:t>
            </a: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arquitecturas de bases de datos son las estructuras que definen cómo se diseñan, procesan y protegen los datos. Su elección no es técnica, sino estratégica, ya que debe responder a cuatro pilares fundamentales: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01210" y="6467431"/>
            <a:ext cx="9976648" cy="253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989" indent="-259494" lvl="1">
              <a:lnSpc>
                <a:spcPts val="3365"/>
              </a:lnSpc>
              <a:buFont typeface="Arial"/>
              <a:buChar char="•"/>
            </a:pPr>
            <a:r>
              <a:rPr lang="en-US" b="true" sz="2403" i="true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Eficiencia: Velocidad de procesamiento.</a:t>
            </a:r>
          </a:p>
          <a:p>
            <a:pPr algn="l" marL="518989" indent="-259494" lvl="1">
              <a:lnSpc>
                <a:spcPts val="3365"/>
              </a:lnSpc>
              <a:buFont typeface="Arial"/>
              <a:buChar char="•"/>
            </a:pPr>
            <a:r>
              <a:rPr lang="en-US" b="true" sz="2403" i="true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Escalabilidad: Capacidad de crecer según la demanda.</a:t>
            </a:r>
          </a:p>
          <a:p>
            <a:pPr algn="l" marL="518989" indent="-259494" lvl="1">
              <a:lnSpc>
                <a:spcPts val="3365"/>
              </a:lnSpc>
              <a:buFont typeface="Arial"/>
              <a:buChar char="•"/>
            </a:pPr>
            <a:r>
              <a:rPr lang="en-US" b="true" sz="2403" i="true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Seguridad: Protección contra accesos no autorizados.</a:t>
            </a:r>
          </a:p>
          <a:p>
            <a:pPr algn="l" marL="518989" indent="-259494" lvl="1">
              <a:lnSpc>
                <a:spcPts val="3365"/>
              </a:lnSpc>
              <a:buFont typeface="Arial"/>
              <a:buChar char="•"/>
            </a:pPr>
            <a:r>
              <a:rPr lang="en-US" b="true" sz="2403" i="true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Disponibilidad: Garantía de que el sistema esté siempre operativo.</a:t>
            </a:r>
          </a:p>
          <a:p>
            <a:pPr algn="l">
              <a:lnSpc>
                <a:spcPts val="336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52430" y="537468"/>
            <a:ext cx="1064272" cy="10642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502484" y="552138"/>
            <a:ext cx="1064272" cy="106427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308918" y="5378823"/>
            <a:ext cx="1064272" cy="10642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02484" y="5255110"/>
            <a:ext cx="1064272" cy="10642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3256561"/>
            <a:ext cx="6663544" cy="307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14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TIPOS DE ARQUITECTURAS Y APLICABILIDAD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70699" y="799398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52430" y="1839865"/>
            <a:ext cx="2869977" cy="73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Arquitectura Centralizada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08918" y="2713636"/>
            <a:ext cx="4292587" cy="266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Toda la información reside en un único servidor central.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Ventajas: Simplicidad en el mantenimiento y control de seguridad unificado.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Limitaciones: Si el servidor falla, el sistema cae (punto único de falla) y tiene poca capacidad para manejar tráfico masivo.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Uso ideal: Bibliotecas locales o inventarios de una sola tienda.</a:t>
            </a:r>
          </a:p>
          <a:p>
            <a:pPr algn="l">
              <a:lnSpc>
                <a:spcPts val="213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3620753" y="814068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02484" y="1839865"/>
            <a:ext cx="3011817" cy="73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Arquitectura Cliente-Servidor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02484" y="2694586"/>
            <a:ext cx="4080794" cy="239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Divide las tareas entre el cliente (quien solicita datos) y el servidor (quien gestiona el DBMS).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Ventajas: Permite que múltiples usuarios interactúen simultáneamente y facilita el escalamiento al añadir más clientes.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Uso ideal: Sistemas hospitalarios y cadenas de tiendas minoristas.</a:t>
            </a:r>
          </a:p>
          <a:p>
            <a:pPr algn="l">
              <a:lnSpc>
                <a:spcPts val="213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427187" y="5640753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08918" y="6681220"/>
            <a:ext cx="2869977" cy="73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Arquitectura Distribuida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08918" y="7554991"/>
            <a:ext cx="4292587" cy="266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Los datos se reparten en múltiples ubicaciones físicas o nodos que trabajan de forma autónoma pero coordinada.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Ventajas: Alta tolerancia a fallos (si un nodo cae, los demás siguen) y mejor rendimiento local.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Uso ideal: Banca internacional y plataformas globales de comercio electrónico (como Amazon).</a:t>
            </a:r>
          </a:p>
          <a:p>
            <a:pPr algn="l">
              <a:lnSpc>
                <a:spcPts val="213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620753" y="5517040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02484" y="6554380"/>
            <a:ext cx="2869977" cy="108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Arquitectura en la Nube y Multitenencia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02484" y="7767028"/>
            <a:ext cx="4247203" cy="2931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Utiliza recursos de internet (AWS, Azure, Google Cloud) para eliminar la necesidad de infraestructura física.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Multitenencia (Multi-tenant): Varios clientes (tenants) comparten la misma infraestructura y base de datos, pero sus datos están aislados lógicamente.</a:t>
            </a:r>
          </a:p>
          <a:p>
            <a:pPr algn="l" marL="329740" indent="-164870" lvl="1">
              <a:lnSpc>
                <a:spcPts val="2138"/>
              </a:lnSpc>
              <a:buFont typeface="Arial"/>
              <a:buChar char="•"/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Ventajas: Reducción drástica de costos operativos y actualizaciones automáticas </a:t>
            </a:r>
          </a:p>
          <a:p>
            <a:pPr algn="l">
              <a:lnSpc>
                <a:spcPts val="2138"/>
              </a:lnSpc>
            </a:pPr>
          </a:p>
          <a:p>
            <a:pPr algn="l">
              <a:lnSpc>
                <a:spcPts val="213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1028700"/>
            <a:ext cx="5246370" cy="3921541"/>
            <a:chOff x="0" y="0"/>
            <a:chExt cx="955596" cy="714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5596" cy="714286"/>
            </a:xfrm>
            <a:custGeom>
              <a:avLst/>
              <a:gdLst/>
              <a:ahLst/>
              <a:cxnLst/>
              <a:rect r="r" b="b" t="t" l="l"/>
              <a:pathLst>
                <a:path h="714286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2"/>
              <a:stretch>
                <a:fillRect l="0" t="-55135" r="0" b="-4566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006815"/>
            <a:ext cx="9613762" cy="194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CONCLUSIÓN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89882"/>
            <a:ext cx="9613762" cy="256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evolución tecnológica ha desplazado los modelos físicos hacia servicios gestionados en la nube. Hoy en día, la arquitectura elegida determina la productividad y la capacidad de una organización para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dap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rse a lo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 cambios del mercado, siendo los modelos híbridos y distribuidos los más robustos para los desafíos actuales.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12930" y="5336759"/>
            <a:ext cx="5246370" cy="3921541"/>
            <a:chOff x="0" y="0"/>
            <a:chExt cx="955596" cy="7142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5596" cy="714286"/>
            </a:xfrm>
            <a:custGeom>
              <a:avLst/>
              <a:gdLst/>
              <a:ahLst/>
              <a:cxnLst/>
              <a:rect r="r" b="b" t="t" l="l"/>
              <a:pathLst>
                <a:path h="714286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3"/>
              <a:stretch>
                <a:fillRect l="-5990" t="0" r="-599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6743651" y="5426709"/>
            <a:ext cx="0" cy="2403441"/>
          </a:xfrm>
          <a:prstGeom prst="line">
            <a:avLst/>
          </a:prstGeom>
          <a:ln cap="flat" w="38100">
            <a:solidFill>
              <a:srgbClr val="24497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" id="3"/>
          <p:cNvSpPr/>
          <p:nvPr/>
        </p:nvSpPr>
        <p:spPr>
          <a:xfrm flipV="true">
            <a:off x="11819004" y="5426709"/>
            <a:ext cx="0" cy="2403441"/>
          </a:xfrm>
          <a:prstGeom prst="line">
            <a:avLst/>
          </a:prstGeom>
          <a:ln cap="flat" w="38100">
            <a:solidFill>
              <a:srgbClr val="24497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73" r="0" b="-1517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DAHHExQRZbo</dc:identifier>
  <dcterms:modified xsi:type="dcterms:W3CDTF">2011-08-01T06:04:30Z</dcterms:modified>
  <cp:revision>1</cp:revision>
  <dc:title>Presentación Propuesta de Negocio Corporativo Azul y Blanco</dc:title>
</cp:coreProperties>
</file>